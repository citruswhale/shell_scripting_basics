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93bbe0ee-2366-c585-4c04-8262ec19e60c}">
          <p14:sldIdLst>
            <p14:sldId id="256"/>
          </p14:sldIdLst>
        </p14:section>
        <p14:section name="The app" id="{ac36d390-8d3d-2c80-52cf-3618b81ae0e4}">
          <p14:sldIdLst>
            <p14:sldId id="257"/>
            <p14:sldId id="258"/>
          </p14:sldIdLst>
        </p14:section>
        <p14:section name="DevOps" id="{dd4de8e8-985d-4085-462d-994e686c6ed5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Close" id="{c93ad1a5-e2f7-7481-76db-ae9ae11cf43b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493776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49377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GearLoan · Srinidhi Narendran (24BCS10037)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GearLoan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An equipment lending app with a full DevOps pipeline: CI/CD, security gates, Terraform on AWS, Kubernetes, GitOps and monitoring</a:t>
            </a:r>
            <a:endParaRPr lang="en-US" sz="1800" dirty="0"/>
          </a:p>
        </p:txBody>
      </p:sp>
      <p:sp>
        <p:nvSpPr>
          <p:cNvPr id="4" name="text-1"/>
          <p:cNvSpPr txBox="1"/>
          <p:nvPr/>
        </p:nvSpPr>
        <p:spPr>
          <a:xfrm>
            <a:off x="548640" y="38862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Srinidhi Narendran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Roll No 24BCS10037 · Batch B</a:t>
            </a:r>
            <a:endParaRPr lang="en-US" sz="1400" dirty="0"/>
          </a:p>
        </p:txBody>
      </p:sp>
      <p:pic>
        <p:nvPicPr>
          <p:cNvPr id="5" name="img-2" descr="/Users/srinidhinarendran/DevOps SST/Shell_Scripting_Basics/session21-python/evidence/screenshots/app-mobile-item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37960" y="411480"/>
            <a:ext cx="1965960" cy="4297680"/>
          </a:xfrm>
          <a:prstGeom prst="rect">
            <a:avLst/>
          </a:prstGeom>
        </p:spPr>
      </p:pic>
      <p:sp>
        <p:nvSpPr>
          <p:cNvPr id="6" name="frame-3"/>
          <p:cNvSpPr/>
          <p:nvPr/>
        </p:nvSpPr>
        <p:spPr>
          <a:xfrm>
            <a:off x="6537960" y="411480"/>
            <a:ext cx="1965960" cy="4297680"/>
          </a:xfrm>
          <a:prstGeom prst="rect">
            <a:avLst/>
          </a:prstGeom>
          <a:ln w="9525">
            <a:solidFill>
              <a:schemeClr val="accent4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Lending club gear without a paper register</a:t>
            </a:r>
            <a:endParaRPr lang="en-US" sz="3000" dirty="0"/>
          </a:p>
        </p:txBody>
      </p:sp>
      <p:sp>
        <p:nvSpPr>
          <p:cNvPr id="3" name="badge-4"/>
          <p:cNvSpPr/>
          <p:nvPr/>
        </p:nvSpPr>
        <p:spPr>
          <a:xfrm>
            <a:off x="457200" y="1143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badge-num-5"/>
          <p:cNvSpPr txBox="1"/>
          <p:nvPr/>
        </p:nvSpPr>
        <p:spPr>
          <a:xfrm>
            <a:off x="45720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-6"/>
          <p:cNvSpPr txBox="1"/>
          <p:nvPr/>
        </p:nvSpPr>
        <p:spPr>
          <a:xfrm>
            <a:off x="960120" y="112471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Items</a:t>
            </a:r>
            <a:endParaRPr lang="en-US" sz="1600" dirty="0"/>
          </a:p>
        </p:txBody>
      </p:sp>
      <p:sp>
        <p:nvSpPr>
          <p:cNvPr id="6" name="text-7"/>
          <p:cNvSpPr txBox="1"/>
          <p:nvPr/>
        </p:nvSpPr>
        <p:spPr>
          <a:xfrm>
            <a:off x="960120" y="14173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cameras, laptops, audio, lights, tripods, with condition and serial number</a:t>
            </a:r>
            <a:endParaRPr lang="en-US" sz="1300" dirty="0"/>
          </a:p>
        </p:txBody>
      </p:sp>
      <p:sp>
        <p:nvSpPr>
          <p:cNvPr id="7" name="badge-8"/>
          <p:cNvSpPr/>
          <p:nvPr/>
        </p:nvSpPr>
        <p:spPr>
          <a:xfrm>
            <a:off x="457200" y="20116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badge-num-9"/>
          <p:cNvSpPr txBox="1"/>
          <p:nvPr/>
        </p:nvSpPr>
        <p:spPr>
          <a:xfrm>
            <a:off x="45720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-10"/>
          <p:cNvSpPr txBox="1"/>
          <p:nvPr/>
        </p:nvSpPr>
        <p:spPr>
          <a:xfrm>
            <a:off x="960120" y="199339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Loans</a:t>
            </a:r>
            <a:endParaRPr lang="en-US" sz="1600" dirty="0"/>
          </a:p>
        </p:txBody>
      </p:sp>
      <p:sp>
        <p:nvSpPr>
          <p:cNvPr id="10" name="text-11"/>
          <p:cNvSpPr txBox="1"/>
          <p:nvPr/>
        </p:nvSpPr>
        <p:spPr>
          <a:xfrm>
            <a:off x="960120" y="22860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lend with a due date, return, overdue shown automatically</a:t>
            </a:r>
            <a:endParaRPr lang="en-US" sz="1300" dirty="0"/>
          </a:p>
        </p:txBody>
      </p:sp>
      <p:sp>
        <p:nvSpPr>
          <p:cNvPr id="11" name="badge-12"/>
          <p:cNvSpPr/>
          <p:nvPr/>
        </p:nvSpPr>
        <p:spPr>
          <a:xfrm>
            <a:off x="457200" y="28803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badge-num-13"/>
          <p:cNvSpPr txBox="1"/>
          <p:nvPr/>
        </p:nvSpPr>
        <p:spPr>
          <a:xfrm>
            <a:off x="45720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-14"/>
          <p:cNvSpPr txBox="1"/>
          <p:nvPr/>
        </p:nvSpPr>
        <p:spPr>
          <a:xfrm>
            <a:off x="960120" y="286207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Rules</a:t>
            </a:r>
            <a:endParaRPr lang="en-US" sz="1600" dirty="0"/>
          </a:p>
        </p:txBody>
      </p:sp>
      <p:sp>
        <p:nvSpPr>
          <p:cNvPr id="14" name="text-15"/>
          <p:cNvSpPr txBox="1"/>
          <p:nvPr/>
        </p:nvSpPr>
        <p:spPr>
          <a:xfrm>
            <a:off x="960120" y="31546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double lending · max 3 open loans per person · damaged → maintenance</a:t>
            </a:r>
            <a:endParaRPr lang="en-US" sz="1300" dirty="0"/>
          </a:p>
        </p:txBody>
      </p:sp>
      <p:sp>
        <p:nvSpPr>
          <p:cNvPr id="15" name="badge-16"/>
          <p:cNvSpPr/>
          <p:nvPr/>
        </p:nvSpPr>
        <p:spPr>
          <a:xfrm>
            <a:off x="457200" y="37490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badge-num-17"/>
          <p:cNvSpPr txBox="1"/>
          <p:nvPr/>
        </p:nvSpPr>
        <p:spPr>
          <a:xfrm>
            <a:off x="45720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-18"/>
          <p:cNvSpPr txBox="1"/>
          <p:nvPr/>
        </p:nvSpPr>
        <p:spPr>
          <a:xfrm>
            <a:off x="960120" y="373075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API</a:t>
            </a:r>
            <a:endParaRPr lang="en-US" sz="1600" dirty="0"/>
          </a:p>
        </p:txBody>
      </p:sp>
      <p:sp>
        <p:nvSpPr>
          <p:cNvPr id="18" name="text-19"/>
          <p:cNvSpPr txBox="1"/>
          <p:nvPr/>
        </p:nvSpPr>
        <p:spPr>
          <a:xfrm>
            <a:off x="960120" y="40233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FastAPI REST with GET, POST, PUT and DELETE, plus health, ready and metrics endpoints</a:t>
            </a:r>
            <a:endParaRPr lang="en-US" sz="1300" dirty="0"/>
          </a:p>
        </p:txBody>
      </p:sp>
      <p:pic>
        <p:nvPicPr>
          <p:cNvPr id="19" name="img-20" descr="/Users/srinidhinarendran/DevOps SST/Shell_Scripting_Basics/session21-python/evidence/screenshots/app-desktop-item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343400" y="1097280"/>
            <a:ext cx="4343400" cy="2715768"/>
          </a:xfrm>
          <a:prstGeom prst="rect">
            <a:avLst/>
          </a:prstGeom>
        </p:spPr>
      </p:pic>
      <p:sp>
        <p:nvSpPr>
          <p:cNvPr id="20" name="frame-21"/>
          <p:cNvSpPr/>
          <p:nvPr/>
        </p:nvSpPr>
        <p:spPr>
          <a:xfrm>
            <a:off x="4343400" y="1097280"/>
            <a:ext cx="4343400" cy="2715768"/>
          </a:xfrm>
          <a:prstGeom prst="rect">
            <a:avLst/>
          </a:prstGeom>
          <a:ln w="9525">
            <a:solidFill>
              <a:schemeClr val="accent4"/>
            </a:solidFill>
            <a:prstDash val="solid"/>
          </a:ln>
        </p:spPr>
      </p:sp>
      <p:sp>
        <p:nvSpPr>
          <p:cNvPr id="21" name="text-22"/>
          <p:cNvSpPr txBox="1"/>
          <p:nvPr/>
        </p:nvSpPr>
        <p:spPr>
          <a:xfrm>
            <a:off x="4343400" y="39319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PostgreSQL 17 + Alembic migration · React UI, works on phone and desktop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Tech stack</a:t>
            </a:r>
            <a:endParaRPr lang="en-US" sz="3000" dirty="0"/>
          </a:p>
        </p:txBody>
      </p:sp>
      <p:sp>
        <p:nvSpPr>
          <p:cNvPr id="3" name="card-23"/>
          <p:cNvSpPr/>
          <p:nvPr/>
        </p:nvSpPr>
        <p:spPr>
          <a:xfrm>
            <a:off x="457200" y="109728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-24"/>
          <p:cNvSpPr txBox="1"/>
          <p:nvPr/>
        </p:nvSpPr>
        <p:spPr>
          <a:xfrm>
            <a:off x="640080" y="11887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App</a:t>
            </a:r>
            <a:endParaRPr lang="en-US" sz="1500" dirty="0"/>
          </a:p>
        </p:txBody>
      </p:sp>
      <p:sp>
        <p:nvSpPr>
          <p:cNvPr id="5" name="text-25"/>
          <p:cNvSpPr txBox="1"/>
          <p:nvPr/>
        </p:nvSpPr>
        <p:spPr>
          <a:xfrm>
            <a:off x="1920240" y="11887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Python 3.12 · FastAPI · SQLAlchemy · Alembic · React 18 + Vite</a:t>
            </a:r>
            <a:endParaRPr lang="en-US" sz="1250" dirty="0"/>
          </a:p>
        </p:txBody>
      </p:sp>
      <p:sp>
        <p:nvSpPr>
          <p:cNvPr id="6" name="card-26"/>
          <p:cNvSpPr/>
          <p:nvPr/>
        </p:nvSpPr>
        <p:spPr>
          <a:xfrm>
            <a:off x="4617720" y="109728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-27"/>
          <p:cNvSpPr txBox="1"/>
          <p:nvPr/>
        </p:nvSpPr>
        <p:spPr>
          <a:xfrm>
            <a:off x="4800600" y="11887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Data</a:t>
            </a:r>
            <a:endParaRPr lang="en-US" sz="1500" dirty="0"/>
          </a:p>
        </p:txBody>
      </p:sp>
      <p:sp>
        <p:nvSpPr>
          <p:cNvPr id="8" name="text-28"/>
          <p:cNvSpPr txBox="1"/>
          <p:nvPr/>
        </p:nvSpPr>
        <p:spPr>
          <a:xfrm>
            <a:off x="6080760" y="11887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PostgreSQL 17 (StatefulSet + EBS volume)</a:t>
            </a:r>
            <a:endParaRPr lang="en-US" sz="1250" dirty="0"/>
          </a:p>
        </p:txBody>
      </p:sp>
      <p:sp>
        <p:nvSpPr>
          <p:cNvPr id="9" name="card-29"/>
          <p:cNvSpPr/>
          <p:nvPr/>
        </p:nvSpPr>
        <p:spPr>
          <a:xfrm>
            <a:off x="457200" y="196596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-30"/>
          <p:cNvSpPr txBox="1"/>
          <p:nvPr/>
        </p:nvSpPr>
        <p:spPr>
          <a:xfrm>
            <a:off x="640080" y="20574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Containers</a:t>
            </a:r>
            <a:endParaRPr lang="en-US" sz="1500" dirty="0"/>
          </a:p>
        </p:txBody>
      </p:sp>
      <p:sp>
        <p:nvSpPr>
          <p:cNvPr id="11" name="text-31"/>
          <p:cNvSpPr txBox="1"/>
          <p:nvPr/>
        </p:nvSpPr>
        <p:spPr>
          <a:xfrm>
            <a:off x="1920240" y="20574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Docker multi-stage, non-root · Docker Compose</a:t>
            </a:r>
            <a:endParaRPr lang="en-US" sz="1250" dirty="0"/>
          </a:p>
        </p:txBody>
      </p:sp>
      <p:sp>
        <p:nvSpPr>
          <p:cNvPr id="12" name="card-32"/>
          <p:cNvSpPr/>
          <p:nvPr/>
        </p:nvSpPr>
        <p:spPr>
          <a:xfrm>
            <a:off x="4617720" y="196596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-33"/>
          <p:cNvSpPr txBox="1"/>
          <p:nvPr/>
        </p:nvSpPr>
        <p:spPr>
          <a:xfrm>
            <a:off x="4800600" y="20574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CI/CD</a:t>
            </a:r>
            <a:endParaRPr lang="en-US" sz="1500" dirty="0"/>
          </a:p>
        </p:txBody>
      </p:sp>
      <p:sp>
        <p:nvSpPr>
          <p:cNvPr id="14" name="text-34"/>
          <p:cNvSpPr txBox="1"/>
          <p:nvPr/>
        </p:nvSpPr>
        <p:spPr>
          <a:xfrm>
            <a:off x="6080760" y="20574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GitHub Actions · GHCR · kind deploy test</a:t>
            </a:r>
            <a:endParaRPr lang="en-US" sz="1250" dirty="0"/>
          </a:p>
        </p:txBody>
      </p:sp>
      <p:sp>
        <p:nvSpPr>
          <p:cNvPr id="15" name="card-35"/>
          <p:cNvSpPr/>
          <p:nvPr/>
        </p:nvSpPr>
        <p:spPr>
          <a:xfrm>
            <a:off x="457200" y="283464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-36"/>
          <p:cNvSpPr txBox="1"/>
          <p:nvPr/>
        </p:nvSpPr>
        <p:spPr>
          <a:xfrm>
            <a:off x="640080" y="29260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Security</a:t>
            </a:r>
            <a:endParaRPr lang="en-US" sz="1500" dirty="0"/>
          </a:p>
        </p:txBody>
      </p:sp>
      <p:sp>
        <p:nvSpPr>
          <p:cNvPr id="17" name="text-37"/>
          <p:cNvSpPr txBox="1"/>
          <p:nvPr/>
        </p:nvSpPr>
        <p:spPr>
          <a:xfrm>
            <a:off x="1920240" y="29260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Bandit · pip-audit · npm audit · Gitleaks · Trivy</a:t>
            </a:r>
            <a:endParaRPr lang="en-US" sz="1250" dirty="0"/>
          </a:p>
        </p:txBody>
      </p:sp>
      <p:sp>
        <p:nvSpPr>
          <p:cNvPr id="18" name="card-38"/>
          <p:cNvSpPr/>
          <p:nvPr/>
        </p:nvSpPr>
        <p:spPr>
          <a:xfrm>
            <a:off x="4617720" y="283464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ext-39"/>
          <p:cNvSpPr txBox="1"/>
          <p:nvPr/>
        </p:nvSpPr>
        <p:spPr>
          <a:xfrm>
            <a:off x="4800600" y="29260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Cloud</a:t>
            </a:r>
            <a:endParaRPr lang="en-US" sz="1500" dirty="0"/>
          </a:p>
        </p:txBody>
      </p:sp>
      <p:sp>
        <p:nvSpPr>
          <p:cNvPr id="20" name="text-40"/>
          <p:cNvSpPr txBox="1"/>
          <p:nvPr/>
        </p:nvSpPr>
        <p:spPr>
          <a:xfrm>
            <a:off x="6080760" y="29260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Terraform · AWS VPC · EKS 1.37 · EBS CSI</a:t>
            </a:r>
            <a:endParaRPr lang="en-US" sz="1250" dirty="0"/>
          </a:p>
        </p:txBody>
      </p:sp>
      <p:sp>
        <p:nvSpPr>
          <p:cNvPr id="21" name="card-41"/>
          <p:cNvSpPr/>
          <p:nvPr/>
        </p:nvSpPr>
        <p:spPr>
          <a:xfrm>
            <a:off x="457200" y="370332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2" name="text-42"/>
          <p:cNvSpPr txBox="1"/>
          <p:nvPr/>
        </p:nvSpPr>
        <p:spPr>
          <a:xfrm>
            <a:off x="640080" y="37947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Kubernetes</a:t>
            </a:r>
            <a:endParaRPr lang="en-US" sz="1500" dirty="0"/>
          </a:p>
        </p:txBody>
      </p:sp>
      <p:sp>
        <p:nvSpPr>
          <p:cNvPr id="23" name="text-43"/>
          <p:cNvSpPr txBox="1"/>
          <p:nvPr/>
        </p:nvSpPr>
        <p:spPr>
          <a:xfrm>
            <a:off x="1920240" y="37947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Helm 4 chart · ingress-nginx · HPA · Argo CD</a:t>
            </a:r>
            <a:endParaRPr lang="en-US" sz="1250" dirty="0"/>
          </a:p>
        </p:txBody>
      </p:sp>
      <p:sp>
        <p:nvSpPr>
          <p:cNvPr id="24" name="card-44"/>
          <p:cNvSpPr/>
          <p:nvPr/>
        </p:nvSpPr>
        <p:spPr>
          <a:xfrm>
            <a:off x="4617720" y="370332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5" name="text-45"/>
          <p:cNvSpPr txBox="1"/>
          <p:nvPr/>
        </p:nvSpPr>
        <p:spPr>
          <a:xfrm>
            <a:off x="4800600" y="37947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Observability</a:t>
            </a:r>
            <a:endParaRPr lang="en-US" sz="1500" dirty="0"/>
          </a:p>
        </p:txBody>
      </p:sp>
      <p:sp>
        <p:nvSpPr>
          <p:cNvPr id="26" name="text-46"/>
          <p:cNvSpPr txBox="1"/>
          <p:nvPr/>
        </p:nvSpPr>
        <p:spPr>
          <a:xfrm>
            <a:off x="6080760" y="37947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Prometheus · Alertmanager · Grafana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Architecture</a:t>
            </a:r>
            <a:endParaRPr lang="en-US" sz="3000" dirty="0"/>
          </a:p>
        </p:txBody>
      </p:sp>
      <p:sp>
        <p:nvSpPr>
          <p:cNvPr id="3" name="arch-47"/>
          <p:cNvSpPr/>
          <p:nvPr/>
        </p:nvSpPr>
        <p:spPr>
          <a:xfrm>
            <a:off x="457200" y="1143000"/>
            <a:ext cx="1234440" cy="54864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arch-t-48"/>
          <p:cNvSpPr txBox="1"/>
          <p:nvPr/>
        </p:nvSpPr>
        <p:spPr>
          <a:xfrm>
            <a:off x="457200" y="1143000"/>
            <a:ext cx="123444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git push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(master)</a:t>
            </a:r>
            <a:endParaRPr lang="en-US" sz="1150" dirty="0"/>
          </a:p>
        </p:txBody>
      </p:sp>
      <p:sp>
        <p:nvSpPr>
          <p:cNvPr id="5" name="arch-49"/>
          <p:cNvSpPr/>
          <p:nvPr/>
        </p:nvSpPr>
        <p:spPr>
          <a:xfrm>
            <a:off x="1965960" y="1143000"/>
            <a:ext cx="1600200" cy="54864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arch-t-50"/>
          <p:cNvSpPr txBox="1"/>
          <p:nvPr/>
        </p:nvSpPr>
        <p:spPr>
          <a:xfrm>
            <a:off x="1965960" y="1143000"/>
            <a:ext cx="16002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GitHub Actions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test · scan · build</a:t>
            </a:r>
            <a:endParaRPr lang="en-US" sz="1150" dirty="0"/>
          </a:p>
        </p:txBody>
      </p:sp>
      <p:sp>
        <p:nvSpPr>
          <p:cNvPr id="7" name="arch-51"/>
          <p:cNvSpPr/>
          <p:nvPr/>
        </p:nvSpPr>
        <p:spPr>
          <a:xfrm>
            <a:off x="3840480" y="1143000"/>
            <a:ext cx="1234440" cy="54864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arch-t-52"/>
          <p:cNvSpPr txBox="1"/>
          <p:nvPr/>
        </p:nvSpPr>
        <p:spPr>
          <a:xfrm>
            <a:off x="3840480" y="1143000"/>
            <a:ext cx="123444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GHCR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image :&lt;sha&gt;</a:t>
            </a:r>
            <a:endParaRPr lang="en-US" sz="1150" dirty="0"/>
          </a:p>
        </p:txBody>
      </p:sp>
      <p:sp>
        <p:nvSpPr>
          <p:cNvPr id="9" name="arch-53"/>
          <p:cNvSpPr/>
          <p:nvPr/>
        </p:nvSpPr>
        <p:spPr>
          <a:xfrm>
            <a:off x="5349240" y="1143000"/>
            <a:ext cx="1828800" cy="54864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arch-t-54"/>
          <p:cNvSpPr txBox="1"/>
          <p:nvPr/>
        </p:nvSpPr>
        <p:spPr>
          <a:xfrm>
            <a:off x="5349240" y="1143000"/>
            <a:ext cx="18288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Git: values-eks.yaml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(bot commit, new tag)</a:t>
            </a:r>
            <a:endParaRPr lang="en-US" sz="1150" dirty="0"/>
          </a:p>
        </p:txBody>
      </p:sp>
      <p:sp>
        <p:nvSpPr>
          <p:cNvPr id="11" name="arrow-55"/>
          <p:cNvSpPr/>
          <p:nvPr/>
        </p:nvSpPr>
        <p:spPr>
          <a:xfrm>
            <a:off x="1691640" y="1417320"/>
            <a:ext cx="274320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2" name="arrow-56"/>
          <p:cNvSpPr/>
          <p:nvPr/>
        </p:nvSpPr>
        <p:spPr>
          <a:xfrm>
            <a:off x="3566160" y="1417320"/>
            <a:ext cx="274320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3" name="arrow-57"/>
          <p:cNvSpPr/>
          <p:nvPr/>
        </p:nvSpPr>
        <p:spPr>
          <a:xfrm>
            <a:off x="5074920" y="1417320"/>
            <a:ext cx="274320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4" name="aws-58"/>
          <p:cNvSpPr/>
          <p:nvPr/>
        </p:nvSpPr>
        <p:spPr>
          <a:xfrm>
            <a:off x="457200" y="2011680"/>
            <a:ext cx="8229600" cy="260604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text-59"/>
          <p:cNvSpPr txBox="1"/>
          <p:nvPr/>
        </p:nvSpPr>
        <p:spPr>
          <a:xfrm>
            <a:off x="640080" y="20848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AWS ap-south-1 · VPC 10.30.0.0/16 · 2 public subnets · EKS 1.37 · 2 × m7i-flex.large (all Terraform)</a:t>
            </a:r>
            <a:endParaRPr lang="en-US" sz="1100" dirty="0"/>
          </a:p>
        </p:txBody>
      </p:sp>
      <p:sp>
        <p:nvSpPr>
          <p:cNvPr id="16" name="arrow-60"/>
          <p:cNvSpPr/>
          <p:nvPr/>
        </p:nvSpPr>
        <p:spPr>
          <a:xfrm>
            <a:off x="6400800" y="1691640"/>
            <a:ext cx="0" cy="77724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7" name="arch-61"/>
          <p:cNvSpPr/>
          <p:nvPr/>
        </p:nvSpPr>
        <p:spPr>
          <a:xfrm>
            <a:off x="685800" y="2514600"/>
            <a:ext cx="1463040" cy="6858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arch-t-62"/>
          <p:cNvSpPr txBox="1"/>
          <p:nvPr/>
        </p:nvSpPr>
        <p:spPr>
          <a:xfrm>
            <a:off x="685800" y="2514600"/>
            <a:ext cx="146304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Internet →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node public IP :30080</a:t>
            </a:r>
            <a:endParaRPr lang="en-US" sz="1150" dirty="0"/>
          </a:p>
        </p:txBody>
      </p:sp>
      <p:sp>
        <p:nvSpPr>
          <p:cNvPr id="19" name="arch-63"/>
          <p:cNvSpPr/>
          <p:nvPr/>
        </p:nvSpPr>
        <p:spPr>
          <a:xfrm>
            <a:off x="2423160" y="2514600"/>
            <a:ext cx="1554480" cy="6858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arch-t-64"/>
          <p:cNvSpPr txBox="1"/>
          <p:nvPr/>
        </p:nvSpPr>
        <p:spPr>
          <a:xfrm>
            <a:off x="2423160" y="2514600"/>
            <a:ext cx="155448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ingress-nginx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/   and   /api</a:t>
            </a:r>
            <a:endParaRPr lang="en-US" sz="1150" dirty="0"/>
          </a:p>
        </p:txBody>
      </p:sp>
      <p:sp>
        <p:nvSpPr>
          <p:cNvPr id="21" name="arch-65"/>
          <p:cNvSpPr/>
          <p:nvPr/>
        </p:nvSpPr>
        <p:spPr>
          <a:xfrm>
            <a:off x="4251960" y="2468880"/>
            <a:ext cx="1508760" cy="502920"/>
          </a:xfrm>
          <a:prstGeom prst="roundRect">
            <a:avLst>
              <a:gd name="adj" fmla="val 1090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2" name="arch-t-66"/>
          <p:cNvSpPr txBox="1"/>
          <p:nvPr/>
        </p:nvSpPr>
        <p:spPr>
          <a:xfrm>
            <a:off x="4251960" y="2468880"/>
            <a:ext cx="15087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frontend ×2+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(nginx)</a:t>
            </a:r>
            <a:endParaRPr lang="en-US" sz="1150" dirty="0"/>
          </a:p>
        </p:txBody>
      </p:sp>
      <p:sp>
        <p:nvSpPr>
          <p:cNvPr id="23" name="arch-67"/>
          <p:cNvSpPr/>
          <p:nvPr/>
        </p:nvSpPr>
        <p:spPr>
          <a:xfrm>
            <a:off x="4251960" y="3108960"/>
            <a:ext cx="1508760" cy="502920"/>
          </a:xfrm>
          <a:prstGeom prst="roundRect">
            <a:avLst>
              <a:gd name="adj" fmla="val 1090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4" name="arch-t-68"/>
          <p:cNvSpPr txBox="1"/>
          <p:nvPr/>
        </p:nvSpPr>
        <p:spPr>
          <a:xfrm>
            <a:off x="4251960" y="3108960"/>
            <a:ext cx="15087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backend ×2+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(FastAPI)</a:t>
            </a:r>
            <a:endParaRPr lang="en-US" sz="1150" dirty="0"/>
          </a:p>
        </p:txBody>
      </p:sp>
      <p:sp>
        <p:nvSpPr>
          <p:cNvPr id="25" name="arch-69"/>
          <p:cNvSpPr/>
          <p:nvPr/>
        </p:nvSpPr>
        <p:spPr>
          <a:xfrm>
            <a:off x="6035040" y="3108960"/>
            <a:ext cx="1371600" cy="50292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6" name="arch-t-70"/>
          <p:cNvSpPr txBox="1"/>
          <p:nvPr/>
        </p:nvSpPr>
        <p:spPr>
          <a:xfrm>
            <a:off x="6035040" y="3108960"/>
            <a:ext cx="137160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PostgreSQL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+ EBS gp3</a:t>
            </a:r>
            <a:endParaRPr lang="en-US" sz="1150" dirty="0"/>
          </a:p>
        </p:txBody>
      </p:sp>
      <p:sp>
        <p:nvSpPr>
          <p:cNvPr id="27" name="arch-71"/>
          <p:cNvSpPr/>
          <p:nvPr/>
        </p:nvSpPr>
        <p:spPr>
          <a:xfrm>
            <a:off x="6035040" y="2468880"/>
            <a:ext cx="1463040" cy="502920"/>
          </a:xfrm>
          <a:prstGeom prst="roundRect">
            <a:avLst>
              <a:gd name="adj" fmla="val 1090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8" name="arch-t-72"/>
          <p:cNvSpPr txBox="1"/>
          <p:nvPr/>
        </p:nvSpPr>
        <p:spPr>
          <a:xfrm>
            <a:off x="6035040" y="2468880"/>
            <a:ext cx="14630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Argo CD pulls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&amp; syncs the chart</a:t>
            </a:r>
            <a:endParaRPr lang="en-US" sz="1150" dirty="0"/>
          </a:p>
        </p:txBody>
      </p:sp>
      <p:sp>
        <p:nvSpPr>
          <p:cNvPr id="29" name="arrow-73"/>
          <p:cNvSpPr/>
          <p:nvPr/>
        </p:nvSpPr>
        <p:spPr>
          <a:xfrm>
            <a:off x="2148840" y="2852928"/>
            <a:ext cx="274320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0" name="arrow-74"/>
          <p:cNvSpPr/>
          <p:nvPr/>
        </p:nvSpPr>
        <p:spPr>
          <a:xfrm>
            <a:off x="3977640" y="2715768"/>
            <a:ext cx="274320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1" name="arrow-75"/>
          <p:cNvSpPr/>
          <p:nvPr/>
        </p:nvSpPr>
        <p:spPr>
          <a:xfrm>
            <a:off x="3977640" y="3017520"/>
            <a:ext cx="274320" cy="338328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2" name="arrow-76"/>
          <p:cNvSpPr/>
          <p:nvPr/>
        </p:nvSpPr>
        <p:spPr>
          <a:xfrm>
            <a:off x="5760720" y="3355848"/>
            <a:ext cx="274320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3" name="arch-77"/>
          <p:cNvSpPr/>
          <p:nvPr/>
        </p:nvSpPr>
        <p:spPr>
          <a:xfrm>
            <a:off x="4251960" y="3840480"/>
            <a:ext cx="3154680" cy="54864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arch-t-78"/>
          <p:cNvSpPr txBox="1"/>
          <p:nvPr/>
        </p:nvSpPr>
        <p:spPr>
          <a:xfrm>
            <a:off x="4251960" y="3840480"/>
            <a:ext cx="315468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Prometheus scrapes /metrics → Grafana dashboards + alerts</a:t>
            </a:r>
            <a:endParaRPr lang="en-US" sz="1150" dirty="0"/>
          </a:p>
        </p:txBody>
      </p:sp>
      <p:sp>
        <p:nvSpPr>
          <p:cNvPr id="35" name="arrow-79"/>
          <p:cNvSpPr/>
          <p:nvPr/>
        </p:nvSpPr>
        <p:spPr>
          <a:xfrm>
            <a:off x="5001768" y="3611880"/>
            <a:ext cx="0" cy="22860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6" name="text-80"/>
          <p:cNvSpPr txBox="1"/>
          <p:nvPr/>
        </p:nvSpPr>
        <p:spPr>
          <a:xfrm>
            <a:off x="685800" y="34290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tx2"/>
                </a:solidFill>
              </a:rPr>
              <a:t>HPA · probes · ConfigMap · Secret · limits · restricted Pod Security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CI/CD pipeline on every push</a:t>
            </a:r>
            <a:endParaRPr lang="en-US" sz="3000" dirty="0"/>
          </a:p>
        </p:txBody>
      </p:sp>
      <p:sp>
        <p:nvSpPr>
          <p:cNvPr id="3" name="badge-81"/>
          <p:cNvSpPr/>
          <p:nvPr/>
        </p:nvSpPr>
        <p:spPr>
          <a:xfrm>
            <a:off x="457200" y="10515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badge-num-82"/>
          <p:cNvSpPr txBox="1"/>
          <p:nvPr/>
        </p:nvSpPr>
        <p:spPr>
          <a:xfrm>
            <a:off x="457200" y="1051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-83"/>
          <p:cNvSpPr txBox="1"/>
          <p:nvPr/>
        </p:nvSpPr>
        <p:spPr>
          <a:xfrm>
            <a:off x="960120" y="106984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Test + build</a:t>
            </a:r>
            <a:endParaRPr lang="en-US" sz="1400" dirty="0"/>
          </a:p>
        </p:txBody>
      </p:sp>
      <p:sp>
        <p:nvSpPr>
          <p:cNvPr id="6" name="text-84"/>
          <p:cNvSpPr txBox="1"/>
          <p:nvPr/>
        </p:nvSpPr>
        <p:spPr>
          <a:xfrm>
            <a:off x="2240280" y="10698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pytest on a Postgres service · frontend build</a:t>
            </a:r>
            <a:endParaRPr lang="en-US" sz="1150" dirty="0"/>
          </a:p>
        </p:txBody>
      </p:sp>
      <p:sp>
        <p:nvSpPr>
          <p:cNvPr id="7" name="badge-85"/>
          <p:cNvSpPr/>
          <p:nvPr/>
        </p:nvSpPr>
        <p:spPr>
          <a:xfrm>
            <a:off x="457200" y="161848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badge-num-86"/>
          <p:cNvSpPr txBox="1"/>
          <p:nvPr/>
        </p:nvSpPr>
        <p:spPr>
          <a:xfrm>
            <a:off x="45720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-87"/>
          <p:cNvSpPr txBox="1"/>
          <p:nvPr/>
        </p:nvSpPr>
        <p:spPr>
          <a:xfrm>
            <a:off x="960120" y="163677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Scan code</a:t>
            </a:r>
            <a:endParaRPr lang="en-US" sz="1400" dirty="0"/>
          </a:p>
        </p:txBody>
      </p:sp>
      <p:sp>
        <p:nvSpPr>
          <p:cNvPr id="10" name="text-88"/>
          <p:cNvSpPr txBox="1"/>
          <p:nvPr/>
        </p:nvSpPr>
        <p:spPr>
          <a:xfrm>
            <a:off x="2240280" y="163677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Bandit · pip-audit · npm audit · Gitleaks · helm/terraform checks</a:t>
            </a:r>
            <a:endParaRPr lang="en-US" sz="1150" dirty="0"/>
          </a:p>
        </p:txBody>
      </p:sp>
      <p:sp>
        <p:nvSpPr>
          <p:cNvPr id="11" name="badge-89"/>
          <p:cNvSpPr/>
          <p:nvPr/>
        </p:nvSpPr>
        <p:spPr>
          <a:xfrm>
            <a:off x="457200" y="21854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badge-num-90"/>
          <p:cNvSpPr txBox="1"/>
          <p:nvPr/>
        </p:nvSpPr>
        <p:spPr>
          <a:xfrm>
            <a:off x="457200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-91"/>
          <p:cNvSpPr txBox="1"/>
          <p:nvPr/>
        </p:nvSpPr>
        <p:spPr>
          <a:xfrm>
            <a:off x="960120" y="220370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Build once</a:t>
            </a:r>
            <a:endParaRPr lang="en-US" sz="1400" dirty="0"/>
          </a:p>
        </p:txBody>
      </p:sp>
      <p:sp>
        <p:nvSpPr>
          <p:cNvPr id="14" name="text-92"/>
          <p:cNvSpPr txBox="1"/>
          <p:nvPr/>
        </p:nvSpPr>
        <p:spPr>
          <a:xfrm>
            <a:off x="2240280" y="220370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both images, linux/amd64, saved as tarballs</a:t>
            </a:r>
            <a:endParaRPr lang="en-US" sz="1150" dirty="0"/>
          </a:p>
        </p:txBody>
      </p:sp>
      <p:sp>
        <p:nvSpPr>
          <p:cNvPr id="15" name="badge-93"/>
          <p:cNvSpPr/>
          <p:nvPr/>
        </p:nvSpPr>
        <p:spPr>
          <a:xfrm>
            <a:off x="457200" y="2752344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badge-num-94"/>
          <p:cNvSpPr txBox="1"/>
          <p:nvPr/>
        </p:nvSpPr>
        <p:spPr>
          <a:xfrm>
            <a:off x="457200" y="2752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-95"/>
          <p:cNvSpPr txBox="1"/>
          <p:nvPr/>
        </p:nvSpPr>
        <p:spPr>
          <a:xfrm>
            <a:off x="960120" y="277063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Trivy gate</a:t>
            </a:r>
            <a:endParaRPr lang="en-US" sz="1400" dirty="0"/>
          </a:p>
        </p:txBody>
      </p:sp>
      <p:sp>
        <p:nvSpPr>
          <p:cNvPr id="18" name="text-96"/>
          <p:cNvSpPr txBox="1"/>
          <p:nvPr/>
        </p:nvSpPr>
        <p:spPr>
          <a:xfrm>
            <a:off x="2240280" y="27706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fail on HIGH / CRITICAL</a:t>
            </a:r>
            <a:endParaRPr lang="en-US" sz="1150" dirty="0"/>
          </a:p>
        </p:txBody>
      </p:sp>
      <p:sp>
        <p:nvSpPr>
          <p:cNvPr id="19" name="badge-97"/>
          <p:cNvSpPr/>
          <p:nvPr/>
        </p:nvSpPr>
        <p:spPr>
          <a:xfrm>
            <a:off x="457200" y="331927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badge-num-98"/>
          <p:cNvSpPr txBox="1"/>
          <p:nvPr/>
        </p:nvSpPr>
        <p:spPr>
          <a:xfrm>
            <a:off x="457200" y="3319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-99"/>
          <p:cNvSpPr txBox="1"/>
          <p:nvPr/>
        </p:nvSpPr>
        <p:spPr>
          <a:xfrm>
            <a:off x="96012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Deploy test</a:t>
            </a:r>
            <a:endParaRPr lang="en-US" sz="1400" dirty="0"/>
          </a:p>
        </p:txBody>
      </p:sp>
      <p:sp>
        <p:nvSpPr>
          <p:cNvPr id="22" name="text-100"/>
          <p:cNvSpPr txBox="1"/>
          <p:nvPr/>
        </p:nvSpPr>
        <p:spPr>
          <a:xfrm>
            <a:off x="2240280" y="33375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kind cluster + Helm + smoke test</a:t>
            </a:r>
            <a:endParaRPr lang="en-US" sz="1150" dirty="0"/>
          </a:p>
        </p:txBody>
      </p:sp>
      <p:sp>
        <p:nvSpPr>
          <p:cNvPr id="23" name="badge-101"/>
          <p:cNvSpPr/>
          <p:nvPr/>
        </p:nvSpPr>
        <p:spPr>
          <a:xfrm>
            <a:off x="457200" y="38862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badge-num-102"/>
          <p:cNvSpPr txBox="1"/>
          <p:nvPr/>
        </p:nvSpPr>
        <p:spPr>
          <a:xfrm>
            <a:off x="45720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5" name="text-103"/>
          <p:cNvSpPr txBox="1"/>
          <p:nvPr/>
        </p:nvSpPr>
        <p:spPr>
          <a:xfrm>
            <a:off x="960120" y="390448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Ship</a:t>
            </a:r>
            <a:endParaRPr lang="en-US" sz="1400" dirty="0"/>
          </a:p>
        </p:txBody>
      </p:sp>
      <p:sp>
        <p:nvSpPr>
          <p:cNvPr id="26" name="text-104"/>
          <p:cNvSpPr txBox="1"/>
          <p:nvPr/>
        </p:nvSpPr>
        <p:spPr>
          <a:xfrm>
            <a:off x="2240280" y="390448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push the scanned images to GHCR :&lt;sha&gt; · bot updates Git</a:t>
            </a:r>
            <a:endParaRPr lang="en-US" sz="1150" dirty="0"/>
          </a:p>
        </p:txBody>
      </p:sp>
      <p:pic>
        <p:nvPicPr>
          <p:cNvPr id="27" name="img-105" descr="/Users/srinidhinarendran/DevOps SST/Shell_Scripting_Basics/session21-python/evidence/screenshots/github-actions-capstone-gree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00600" y="1051560"/>
            <a:ext cx="3886200" cy="3154680"/>
          </a:xfrm>
          <a:prstGeom prst="rect">
            <a:avLst/>
          </a:prstGeom>
        </p:spPr>
      </p:pic>
      <p:sp>
        <p:nvSpPr>
          <p:cNvPr id="28" name="frame-106"/>
          <p:cNvSpPr/>
          <p:nvPr/>
        </p:nvSpPr>
        <p:spPr>
          <a:xfrm>
            <a:off x="4800600" y="1051560"/>
            <a:ext cx="3886200" cy="3154680"/>
          </a:xfrm>
          <a:prstGeom prst="rect">
            <a:avLst/>
          </a:prstGeom>
          <a:ln w="9525">
            <a:solidFill>
              <a:schemeClr val="accent4"/>
            </a:solidFill>
            <a:prstDash val="solid"/>
          </a:ln>
        </p:spPr>
      </p:sp>
      <p:sp>
        <p:nvSpPr>
          <p:cNvPr id="29" name="text-107"/>
          <p:cNvSpPr txBox="1"/>
          <p:nvPr/>
        </p:nvSpPr>
        <p:spPr>
          <a:xfrm>
            <a:off x="4800600" y="429768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Run 38964516947: 15 jobs green in 5m 4s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Security gates before anything ships</a:t>
            </a:r>
            <a:endParaRPr lang="en-US" sz="3000" dirty="0"/>
          </a:p>
        </p:txBody>
      </p:sp>
      <p:sp>
        <p:nvSpPr>
          <p:cNvPr id="3" name="card-108"/>
          <p:cNvSpPr/>
          <p:nvPr/>
        </p:nvSpPr>
        <p:spPr>
          <a:xfrm>
            <a:off x="457200" y="1097280"/>
            <a:ext cx="3017520" cy="3429000"/>
          </a:xfrm>
          <a:prstGeom prst="roundRect">
            <a:avLst>
              <a:gd name="adj" fmla="val 2424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" name="text-109"/>
          <p:cNvSpPr txBox="1"/>
          <p:nvPr/>
        </p:nvSpPr>
        <p:spPr>
          <a:xfrm>
            <a:off x="685800" y="128016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7200" dirty="0"/>
          </a:p>
        </p:txBody>
      </p:sp>
      <p:sp>
        <p:nvSpPr>
          <p:cNvPr id="5" name="text-110"/>
          <p:cNvSpPr txBox="1"/>
          <p:nvPr/>
        </p:nvSpPr>
        <p:spPr>
          <a:xfrm>
            <a:off x="685800" y="23317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HIGH or CRITICAL CVEs with a fix, in both images</a:t>
            </a:r>
            <a:endParaRPr lang="en-US" sz="1400" dirty="0"/>
          </a:p>
        </p:txBody>
      </p:sp>
      <p:sp>
        <p:nvSpPr>
          <p:cNvPr id="6" name="text-111"/>
          <p:cNvSpPr txBox="1"/>
          <p:nvPr/>
        </p:nvSpPr>
        <p:spPr>
          <a:xfrm>
            <a:off x="685800" y="3017520"/>
            <a:ext cx="2606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4"/>
                </a:solidFill>
              </a:rPr>
              <a:t>Trivy scanned Debian 13.7 (backend) and Alpine 3.24 (frontend) plus every Python and Node package. Clean today does not mean safe forever, so it runs on every push.</a:t>
            </a:r>
            <a:endParaRPr lang="en-US" sz="1150" dirty="0"/>
          </a:p>
        </p:txBody>
      </p:sp>
      <p:sp>
        <p:nvSpPr>
          <p:cNvPr id="7" name="card-112"/>
          <p:cNvSpPr/>
          <p:nvPr/>
        </p:nvSpPr>
        <p:spPr>
          <a:xfrm>
            <a:off x="3703320" y="1097280"/>
            <a:ext cx="498348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text-113"/>
          <p:cNvSpPr txBox="1"/>
          <p:nvPr/>
        </p:nvSpPr>
        <p:spPr>
          <a:xfrm>
            <a:off x="3886200" y="118872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SAST</a:t>
            </a:r>
            <a:endParaRPr lang="en-US" sz="1400" dirty="0"/>
          </a:p>
        </p:txBody>
      </p:sp>
      <p:sp>
        <p:nvSpPr>
          <p:cNvPr id="9" name="text-114"/>
          <p:cNvSpPr txBox="1"/>
          <p:nvPr/>
        </p:nvSpPr>
        <p:spPr>
          <a:xfrm>
            <a:off x="5257800" y="1188720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Bandit on the backend code: no issues</a:t>
            </a:r>
            <a:endParaRPr lang="en-US" sz="1250" dirty="0"/>
          </a:p>
        </p:txBody>
      </p:sp>
      <p:sp>
        <p:nvSpPr>
          <p:cNvPr id="10" name="card-115"/>
          <p:cNvSpPr/>
          <p:nvPr/>
        </p:nvSpPr>
        <p:spPr>
          <a:xfrm>
            <a:off x="3703320" y="1792224"/>
            <a:ext cx="498348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1" name="text-116"/>
          <p:cNvSpPr txBox="1"/>
          <p:nvPr/>
        </p:nvSpPr>
        <p:spPr>
          <a:xfrm>
            <a:off x="3886200" y="1883664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SCA</a:t>
            </a:r>
            <a:endParaRPr lang="en-US" sz="1400" dirty="0"/>
          </a:p>
        </p:txBody>
      </p:sp>
      <p:sp>
        <p:nvSpPr>
          <p:cNvPr id="12" name="text-117"/>
          <p:cNvSpPr txBox="1"/>
          <p:nvPr/>
        </p:nvSpPr>
        <p:spPr>
          <a:xfrm>
            <a:off x="5257800" y="1883664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pip-audit + npm audit: 0 known vulnerabilities</a:t>
            </a:r>
            <a:endParaRPr lang="en-US" sz="1250" dirty="0"/>
          </a:p>
        </p:txBody>
      </p:sp>
      <p:sp>
        <p:nvSpPr>
          <p:cNvPr id="13" name="card-118"/>
          <p:cNvSpPr/>
          <p:nvPr/>
        </p:nvSpPr>
        <p:spPr>
          <a:xfrm>
            <a:off x="3703320" y="2487168"/>
            <a:ext cx="498348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text-119"/>
          <p:cNvSpPr txBox="1"/>
          <p:nvPr/>
        </p:nvSpPr>
        <p:spPr>
          <a:xfrm>
            <a:off x="3886200" y="257860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Secrets</a:t>
            </a:r>
            <a:endParaRPr lang="en-US" sz="1400" dirty="0"/>
          </a:p>
        </p:txBody>
      </p:sp>
      <p:sp>
        <p:nvSpPr>
          <p:cNvPr id="15" name="text-120"/>
          <p:cNvSpPr txBox="1"/>
          <p:nvPr/>
        </p:nvSpPr>
        <p:spPr>
          <a:xfrm>
            <a:off x="5257800" y="2578608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Gitleaks over the whole Git history: no leaks</a:t>
            </a:r>
            <a:endParaRPr lang="en-US" sz="1250" dirty="0"/>
          </a:p>
        </p:txBody>
      </p:sp>
      <p:sp>
        <p:nvSpPr>
          <p:cNvPr id="16" name="card-121"/>
          <p:cNvSpPr/>
          <p:nvPr/>
        </p:nvSpPr>
        <p:spPr>
          <a:xfrm>
            <a:off x="3703320" y="3182112"/>
            <a:ext cx="498348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7" name="text-122"/>
          <p:cNvSpPr txBox="1"/>
          <p:nvPr/>
        </p:nvSpPr>
        <p:spPr>
          <a:xfrm>
            <a:off x="3886200" y="327355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Containers</a:t>
            </a:r>
            <a:endParaRPr lang="en-US" sz="1400" dirty="0"/>
          </a:p>
        </p:txBody>
      </p:sp>
      <p:sp>
        <p:nvSpPr>
          <p:cNvPr id="18" name="text-123"/>
          <p:cNvSpPr txBox="1"/>
          <p:nvPr/>
        </p:nvSpPr>
        <p:spPr>
          <a:xfrm>
            <a:off x="5257800" y="3273552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non-root users (uid 10001 / 101), read-only root filesystem</a:t>
            </a:r>
            <a:endParaRPr lang="en-US" sz="1250" dirty="0"/>
          </a:p>
        </p:txBody>
      </p:sp>
      <p:sp>
        <p:nvSpPr>
          <p:cNvPr id="19" name="card-124"/>
          <p:cNvSpPr/>
          <p:nvPr/>
        </p:nvSpPr>
        <p:spPr>
          <a:xfrm>
            <a:off x="3703320" y="3877056"/>
            <a:ext cx="498348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text-125"/>
          <p:cNvSpPr txBox="1"/>
          <p:nvPr/>
        </p:nvSpPr>
        <p:spPr>
          <a:xfrm>
            <a:off x="3886200" y="396849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Least privilege</a:t>
            </a:r>
            <a:endParaRPr lang="en-US" sz="1400" dirty="0"/>
          </a:p>
        </p:txBody>
      </p:sp>
      <p:sp>
        <p:nvSpPr>
          <p:cNvPr id="21" name="text-126"/>
          <p:cNvSpPr txBox="1"/>
          <p:nvPr/>
        </p:nvSpPr>
        <p:spPr>
          <a:xfrm>
            <a:off x="5257800" y="3968496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workflow permissions per job; no passwords in Git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Infrastructure as code with Terraform</a:t>
            </a:r>
            <a:endParaRPr lang="en-US" sz="3000" dirty="0"/>
          </a:p>
        </p:txBody>
      </p:sp>
      <p:sp>
        <p:nvSpPr>
          <p:cNvPr id="3" name="text-127"/>
          <p:cNvSpPr txBox="1"/>
          <p:nvPr/>
        </p:nvSpPr>
        <p:spPr>
          <a:xfrm>
            <a:off x="457200" y="105156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3400" dirty="0"/>
          </a:p>
        </p:txBody>
      </p:sp>
      <p:sp>
        <p:nvSpPr>
          <p:cNvPr id="4" name="text-128"/>
          <p:cNvSpPr txBox="1"/>
          <p:nvPr/>
        </p:nvSpPr>
        <p:spPr>
          <a:xfrm>
            <a:off x="457200" y="16459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resources in the plan</a:t>
            </a:r>
            <a:endParaRPr lang="en-US" sz="1200" dirty="0"/>
          </a:p>
        </p:txBody>
      </p:sp>
      <p:sp>
        <p:nvSpPr>
          <p:cNvPr id="5" name="text-129"/>
          <p:cNvSpPr txBox="1"/>
          <p:nvPr/>
        </p:nvSpPr>
        <p:spPr>
          <a:xfrm>
            <a:off x="2514600" y="105156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6" name="text-130"/>
          <p:cNvSpPr txBox="1"/>
          <p:nvPr/>
        </p:nvSpPr>
        <p:spPr>
          <a:xfrm>
            <a:off x="2514600" y="16459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public subnets, 2 AZs</a:t>
            </a:r>
            <a:endParaRPr lang="en-US" sz="1200" dirty="0"/>
          </a:p>
        </p:txBody>
      </p:sp>
      <p:sp>
        <p:nvSpPr>
          <p:cNvPr id="7" name="text-131"/>
          <p:cNvSpPr txBox="1"/>
          <p:nvPr/>
        </p:nvSpPr>
        <p:spPr>
          <a:xfrm>
            <a:off x="457200" y="20116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8" name="text-132"/>
          <p:cNvSpPr txBox="1"/>
          <p:nvPr/>
        </p:nvSpPr>
        <p:spPr>
          <a:xfrm>
            <a:off x="457200" y="26060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m7i-flex.large workers</a:t>
            </a:r>
            <a:endParaRPr lang="en-US" sz="1200" dirty="0"/>
          </a:p>
        </p:txBody>
      </p:sp>
      <p:sp>
        <p:nvSpPr>
          <p:cNvPr id="9" name="text-133"/>
          <p:cNvSpPr txBox="1"/>
          <p:nvPr/>
        </p:nvSpPr>
        <p:spPr>
          <a:xfrm>
            <a:off x="2514600" y="20116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$0.33</a:t>
            </a:r>
            <a:endParaRPr lang="en-US" sz="3400" dirty="0"/>
          </a:p>
        </p:txBody>
      </p:sp>
      <p:sp>
        <p:nvSpPr>
          <p:cNvPr id="10" name="text-134"/>
          <p:cNvSpPr txBox="1"/>
          <p:nvPr/>
        </p:nvSpPr>
        <p:spPr>
          <a:xfrm>
            <a:off x="2514600" y="26060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per hour, then destroy</a:t>
            </a:r>
            <a:endParaRPr lang="en-US" sz="1200" dirty="0"/>
          </a:p>
        </p:txBody>
      </p:sp>
      <p:sp>
        <p:nvSpPr>
          <p:cNvPr id="11" name="text-135"/>
          <p:cNvSpPr txBox="1"/>
          <p:nvPr/>
        </p:nvSpPr>
        <p:spPr>
          <a:xfrm>
            <a:off x="457200" y="3063240"/>
            <a:ext cx="4160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VPC 10.30.0.0/16 with an internet gateway, no NAT (keeps cost low)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EKS gearloan-eks on Kubernetes 1.37, public API endpoint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Add-ons: vpc-cni, coredns, kube-proxy, pod identity, EBS CSI driver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terraform.tfvars.example only; state and credentials never in Git</a:t>
            </a:r>
            <a:endParaRPr lang="en-US" sz="1400" dirty="0"/>
          </a:p>
        </p:txBody>
      </p:sp>
      <p:pic>
        <p:nvPicPr>
          <p:cNvPr id="12" name="img-136" descr="/Users/srinidhinarendran/DevOps SST/Shell_Scripting_Basics/session21-python/evidence/aws-console/eks-clust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00600" y="1097280"/>
            <a:ext cx="3886200" cy="3429000"/>
          </a:xfrm>
          <a:prstGeom prst="rect">
            <a:avLst/>
          </a:prstGeom>
        </p:spPr>
      </p:pic>
      <p:sp>
        <p:nvSpPr>
          <p:cNvPr id="13" name="frame-137"/>
          <p:cNvSpPr/>
          <p:nvPr/>
        </p:nvSpPr>
        <p:spPr>
          <a:xfrm>
            <a:off x="4800600" y="1097280"/>
            <a:ext cx="3886200" cy="3429000"/>
          </a:xfrm>
          <a:prstGeom prst="rect">
            <a:avLst/>
          </a:prstGeom>
          <a:ln w="9525">
            <a:solidFill>
              <a:schemeClr val="accent4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Kubernetes and Helm</a:t>
            </a:r>
            <a:endParaRPr lang="en-US" sz="3000" dirty="0"/>
          </a:p>
        </p:txBody>
      </p:sp>
      <p:sp>
        <p:nvSpPr>
          <p:cNvPr id="3" name="text-138"/>
          <p:cNvSpPr txBox="1"/>
          <p:nvPr/>
        </p:nvSpPr>
        <p:spPr>
          <a:xfrm>
            <a:off x="457200" y="105156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Deployments</a:t>
            </a:r>
            <a:endParaRPr lang="en-US" sz="1350" dirty="0"/>
          </a:p>
        </p:txBody>
      </p:sp>
      <p:sp>
        <p:nvSpPr>
          <p:cNvPr id="4" name="text-139"/>
          <p:cNvSpPr txBox="1"/>
          <p:nvPr/>
        </p:nvSpPr>
        <p:spPr>
          <a:xfrm>
            <a:off x="1783080" y="10515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backend + frontend, 2+ replicas each</a:t>
            </a:r>
            <a:endParaRPr lang="en-US" sz="1200" dirty="0"/>
          </a:p>
        </p:txBody>
      </p:sp>
      <p:sp>
        <p:nvSpPr>
          <p:cNvPr id="5" name="text-140"/>
          <p:cNvSpPr txBox="1"/>
          <p:nvPr/>
        </p:nvSpPr>
        <p:spPr>
          <a:xfrm>
            <a:off x="457200" y="155448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Services</a:t>
            </a:r>
            <a:endParaRPr lang="en-US" sz="1350" dirty="0"/>
          </a:p>
        </p:txBody>
      </p:sp>
      <p:sp>
        <p:nvSpPr>
          <p:cNvPr id="6" name="text-141"/>
          <p:cNvSpPr txBox="1"/>
          <p:nvPr/>
        </p:nvSpPr>
        <p:spPr>
          <a:xfrm>
            <a:off x="1783080" y="15544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ClusterIP for both; headless for Postgres</a:t>
            </a:r>
            <a:endParaRPr lang="en-US" sz="1200" dirty="0"/>
          </a:p>
        </p:txBody>
      </p:sp>
      <p:sp>
        <p:nvSpPr>
          <p:cNvPr id="7" name="text-142"/>
          <p:cNvSpPr txBox="1"/>
          <p:nvPr/>
        </p:nvSpPr>
        <p:spPr>
          <a:xfrm>
            <a:off x="457200" y="205740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Ingress</a:t>
            </a:r>
            <a:endParaRPr lang="en-US" sz="1350" dirty="0"/>
          </a:p>
        </p:txBody>
      </p:sp>
      <p:sp>
        <p:nvSpPr>
          <p:cNvPr id="8" name="text-143"/>
          <p:cNvSpPr txBox="1"/>
          <p:nvPr/>
        </p:nvSpPr>
        <p:spPr>
          <a:xfrm>
            <a:off x="1783080" y="20574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/ → frontend · /api → backend</a:t>
            </a:r>
            <a:endParaRPr lang="en-US" sz="1200" dirty="0"/>
          </a:p>
        </p:txBody>
      </p:sp>
      <p:sp>
        <p:nvSpPr>
          <p:cNvPr id="9" name="text-144"/>
          <p:cNvSpPr txBox="1"/>
          <p:nvPr/>
        </p:nvSpPr>
        <p:spPr>
          <a:xfrm>
            <a:off x="457200" y="256032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StatefulSet</a:t>
            </a:r>
            <a:endParaRPr lang="en-US" sz="1350" dirty="0"/>
          </a:p>
        </p:txBody>
      </p:sp>
      <p:sp>
        <p:nvSpPr>
          <p:cNvPr id="10" name="text-145"/>
          <p:cNvSpPr txBox="1"/>
          <p:nvPr/>
        </p:nvSpPr>
        <p:spPr>
          <a:xfrm>
            <a:off x="1783080" y="25603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PostgreSQL with a PVC on gp3</a:t>
            </a:r>
            <a:endParaRPr lang="en-US" sz="1200" dirty="0"/>
          </a:p>
        </p:txBody>
      </p:sp>
      <p:sp>
        <p:nvSpPr>
          <p:cNvPr id="11" name="text-146"/>
          <p:cNvSpPr txBox="1"/>
          <p:nvPr/>
        </p:nvSpPr>
        <p:spPr>
          <a:xfrm>
            <a:off x="457200" y="30632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HPA</a:t>
            </a:r>
            <a:endParaRPr lang="en-US" sz="1350" dirty="0"/>
          </a:p>
        </p:txBody>
      </p:sp>
      <p:sp>
        <p:nvSpPr>
          <p:cNvPr id="12" name="text-147"/>
          <p:cNvSpPr txBox="1"/>
          <p:nvPr/>
        </p:nvSpPr>
        <p:spPr>
          <a:xfrm>
            <a:off x="1783080" y="30632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CPU 70%, 2–5 Pods; owns the replica count</a:t>
            </a:r>
            <a:endParaRPr lang="en-US" sz="1200" dirty="0"/>
          </a:p>
        </p:txBody>
      </p:sp>
      <p:sp>
        <p:nvSpPr>
          <p:cNvPr id="13" name="text-148"/>
          <p:cNvSpPr txBox="1"/>
          <p:nvPr/>
        </p:nvSpPr>
        <p:spPr>
          <a:xfrm>
            <a:off x="457200" y="356616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Probes</a:t>
            </a:r>
            <a:endParaRPr lang="en-US" sz="1350" dirty="0"/>
          </a:p>
        </p:txBody>
      </p:sp>
      <p:sp>
        <p:nvSpPr>
          <p:cNvPr id="14" name="text-149"/>
          <p:cNvSpPr txBox="1"/>
          <p:nvPr/>
        </p:nvSpPr>
        <p:spPr>
          <a:xfrm>
            <a:off x="1783080" y="35661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startup · readiness /ready · liveness /health</a:t>
            </a:r>
            <a:endParaRPr lang="en-US" sz="1200" dirty="0"/>
          </a:p>
        </p:txBody>
      </p:sp>
      <p:sp>
        <p:nvSpPr>
          <p:cNvPr id="15" name="text-150"/>
          <p:cNvSpPr txBox="1"/>
          <p:nvPr/>
        </p:nvSpPr>
        <p:spPr>
          <a:xfrm>
            <a:off x="457200" y="406908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Config</a:t>
            </a:r>
            <a:endParaRPr lang="en-US" sz="1350" dirty="0"/>
          </a:p>
        </p:txBody>
      </p:sp>
      <p:sp>
        <p:nvSpPr>
          <p:cNvPr id="16" name="text-151"/>
          <p:cNvSpPr txBox="1"/>
          <p:nvPr/>
        </p:nvSpPr>
        <p:spPr>
          <a:xfrm>
            <a:off x="1783080" y="4069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ConfigMap + Secret (password not in Git)</a:t>
            </a:r>
            <a:endParaRPr lang="en-US" sz="1200" dirty="0"/>
          </a:p>
        </p:txBody>
      </p:sp>
      <p:pic>
        <p:nvPicPr>
          <p:cNvPr id="17" name="img-152" descr="/Users/srinidhinarendran/DevOps SST/Shell_Scripting_Basics/session21-python/evidence/eks/kubectl-pods-svc-ingres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00600" y="1097280"/>
            <a:ext cx="3886200" cy="2743200"/>
          </a:xfrm>
          <a:prstGeom prst="rect">
            <a:avLst/>
          </a:prstGeom>
        </p:spPr>
      </p:pic>
      <p:sp>
        <p:nvSpPr>
          <p:cNvPr id="18" name="frame-153"/>
          <p:cNvSpPr/>
          <p:nvPr/>
        </p:nvSpPr>
        <p:spPr>
          <a:xfrm>
            <a:off x="4800600" y="1097280"/>
            <a:ext cx="3886200" cy="2743200"/>
          </a:xfrm>
          <a:prstGeom prst="rect">
            <a:avLst/>
          </a:prstGeom>
          <a:ln w="9525">
            <a:solidFill>
              <a:schemeClr val="accent4"/>
            </a:solidFill>
            <a:prstDash val="solid"/>
          </a:ln>
        </p:spPr>
      </p:sp>
      <p:sp>
        <p:nvSpPr>
          <p:cNvPr id="19" name="text-154"/>
          <p:cNvSpPr txBox="1"/>
          <p:nvPr/>
        </p:nvSpPr>
        <p:spPr>
          <a:xfrm>
            <a:off x="4800600" y="393192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app over the internet through the Ingress + kubectl, on EKS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GitOps with Argo CD</a:t>
            </a:r>
            <a:endParaRPr lang="en-US" sz="3000" dirty="0"/>
          </a:p>
        </p:txBody>
      </p:sp>
      <p:pic>
        <p:nvPicPr>
          <p:cNvPr id="3" name="img-155" descr="/Users/srinidhinarendran/DevOps SST/Shell_Scripting_Basics/session21-python/evidence/eks/argocd-gearloan-sync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97280"/>
            <a:ext cx="4846320" cy="3063240"/>
          </a:xfrm>
          <a:prstGeom prst="rect">
            <a:avLst/>
          </a:prstGeom>
        </p:spPr>
      </p:pic>
      <p:sp>
        <p:nvSpPr>
          <p:cNvPr id="4" name="frame-156"/>
          <p:cNvSpPr/>
          <p:nvPr/>
        </p:nvSpPr>
        <p:spPr>
          <a:xfrm>
            <a:off x="457200" y="1097280"/>
            <a:ext cx="4846320" cy="3063240"/>
          </a:xfrm>
          <a:prstGeom prst="rect">
            <a:avLst/>
          </a:prstGeom>
          <a:ln w="9525">
            <a:solidFill>
              <a:schemeClr val="accent4"/>
            </a:solidFill>
            <a:prstDash val="solid"/>
          </a:ln>
        </p:spPr>
      </p:sp>
      <p:sp>
        <p:nvSpPr>
          <p:cNvPr id="5" name="text-157"/>
          <p:cNvSpPr txBox="1"/>
          <p:nvPr/>
        </p:nvSpPr>
        <p:spPr>
          <a:xfrm>
            <a:off x="457200" y="4251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Argo CD on EKS: gearloan Synced and Healthy</a:t>
            </a:r>
            <a:endParaRPr lang="en-US" sz="1100" dirty="0"/>
          </a:p>
        </p:txBody>
      </p:sp>
      <p:sp>
        <p:nvSpPr>
          <p:cNvPr id="6" name="text-158"/>
          <p:cNvSpPr txBox="1"/>
          <p:nvPr/>
        </p:nvSpPr>
        <p:spPr>
          <a:xfrm>
            <a:off x="5577840" y="1143000"/>
            <a:ext cx="31089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Git is the source of truth: the pipeline only writes the new image tag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Argo CD pulls the Helm chart and keeps the cluster in sync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prune + self-heal: manual kubectl changes are undone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CI never needs cluster credentials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Observability: Prometheus and Grafana</a:t>
            </a:r>
            <a:endParaRPr lang="en-US" sz="3000" dirty="0"/>
          </a:p>
        </p:txBody>
      </p:sp>
      <p:pic>
        <p:nvPicPr>
          <p:cNvPr id="3" name="img-159" descr="/Users/srinidhinarendran/DevOps SST/Shell_Scripting_Basics/session21-python/evidence/eks/grafana-gearloan-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5394960" cy="3291840"/>
          </a:xfrm>
          <a:prstGeom prst="rect">
            <a:avLst/>
          </a:prstGeom>
        </p:spPr>
      </p:pic>
      <p:sp>
        <p:nvSpPr>
          <p:cNvPr id="4" name="frame-160"/>
          <p:cNvSpPr/>
          <p:nvPr/>
        </p:nvSpPr>
        <p:spPr>
          <a:xfrm>
            <a:off x="457200" y="1051560"/>
            <a:ext cx="5394960" cy="3291840"/>
          </a:xfrm>
          <a:prstGeom prst="rect">
            <a:avLst/>
          </a:prstGeom>
          <a:ln w="9525">
            <a:solidFill>
              <a:schemeClr val="accent4"/>
            </a:solidFill>
            <a:prstDash val="solid"/>
          </a:ln>
        </p:spPr>
      </p:sp>
      <p:sp>
        <p:nvSpPr>
          <p:cNvPr id="5" name="text-161"/>
          <p:cNvSpPr txBox="1"/>
          <p:nvPr/>
        </p:nvSpPr>
        <p:spPr>
          <a:xfrm>
            <a:off x="457200" y="43891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my GearLoan dashboard, live on EKS</a:t>
            </a:r>
            <a:endParaRPr lang="en-US" sz="1100" dirty="0"/>
          </a:p>
        </p:txBody>
      </p:sp>
      <p:sp>
        <p:nvSpPr>
          <p:cNvPr id="6" name="text-162"/>
          <p:cNvSpPr txBox="1"/>
          <p:nvPr/>
        </p:nvSpPr>
        <p:spPr>
          <a:xfrm>
            <a:off x="6080760" y="1097280"/>
            <a:ext cx="26060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/metrics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requests by route and status, latency histogram, loans created and returned</a:t>
            </a:r>
            <a:endParaRPr lang="en-US" sz="125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ServiceMonitor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Prometheus scrapes both backend Pods: 2/2 UP</a:t>
            </a:r>
            <a:endParaRPr lang="en-US" sz="125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Alerts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backend down · &gt;20% 4xx · p95 &gt; 500 ms. The 4xx alert fired and resolved in testing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Tests and local run</a:t>
            </a:r>
            <a:endParaRPr lang="en-US" sz="3000" dirty="0"/>
          </a:p>
        </p:txBody>
      </p:sp>
      <p:sp>
        <p:nvSpPr>
          <p:cNvPr id="3" name="text-163"/>
          <p:cNvSpPr txBox="1"/>
          <p:nvPr/>
        </p:nvSpPr>
        <p:spPr>
          <a:xfrm>
            <a:off x="457200" y="109728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3400" dirty="0"/>
          </a:p>
        </p:txBody>
      </p:sp>
      <p:sp>
        <p:nvSpPr>
          <p:cNvPr id="4" name="text-164"/>
          <p:cNvSpPr txBox="1"/>
          <p:nvPr/>
        </p:nvSpPr>
        <p:spPr>
          <a:xfrm>
            <a:off x="457200" y="16916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pytest tests, all passing</a:t>
            </a:r>
            <a:endParaRPr lang="en-US" sz="1200" dirty="0"/>
          </a:p>
        </p:txBody>
      </p:sp>
      <p:sp>
        <p:nvSpPr>
          <p:cNvPr id="5" name="text-165"/>
          <p:cNvSpPr txBox="1"/>
          <p:nvPr/>
        </p:nvSpPr>
        <p:spPr>
          <a:xfrm>
            <a:off x="457200" y="21488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6" name="text-166"/>
          <p:cNvSpPr txBox="1"/>
          <p:nvPr/>
        </p:nvSpPr>
        <p:spPr>
          <a:xfrm>
            <a:off x="457200" y="2743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test files: health, items, loans, migrations</a:t>
            </a:r>
            <a:endParaRPr lang="en-US" sz="1200" dirty="0"/>
          </a:p>
        </p:txBody>
      </p:sp>
      <p:sp>
        <p:nvSpPr>
          <p:cNvPr id="7" name="text-167"/>
          <p:cNvSpPr txBox="1"/>
          <p:nvPr/>
        </p:nvSpPr>
        <p:spPr>
          <a:xfrm>
            <a:off x="457200" y="320040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8" name="text-168"/>
          <p:cNvSpPr txBox="1"/>
          <p:nvPr/>
        </p:nvSpPr>
        <p:spPr>
          <a:xfrm>
            <a:off x="457200" y="3794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containers in Compose</a:t>
            </a:r>
            <a:endParaRPr lang="en-US" sz="1200" dirty="0"/>
          </a:p>
        </p:txBody>
      </p:sp>
      <p:pic>
        <p:nvPicPr>
          <p:cNvPr id="9" name="img-169" descr="/Users/srinidhinarendran/DevOps SST/Shell_Scripting_Basics/session21-python/evidence/screenshots/pytest-28-pass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0" y="1097280"/>
            <a:ext cx="5943600" cy="3246120"/>
          </a:xfrm>
          <a:prstGeom prst="rect">
            <a:avLst/>
          </a:prstGeom>
        </p:spPr>
      </p:pic>
      <p:sp>
        <p:nvSpPr>
          <p:cNvPr id="10" name="frame-170"/>
          <p:cNvSpPr/>
          <p:nvPr/>
        </p:nvSpPr>
        <p:spPr>
          <a:xfrm>
            <a:off x="2743200" y="1097280"/>
            <a:ext cx="5943600" cy="3246120"/>
          </a:xfrm>
          <a:prstGeom prst="rect">
            <a:avLst/>
          </a:prstGeom>
          <a:ln w="9525">
            <a:solidFill>
              <a:schemeClr val="accent4"/>
            </a:solidFill>
            <a:prstDash val="solid"/>
          </a:ln>
        </p:spPr>
      </p:sp>
      <p:sp>
        <p:nvSpPr>
          <p:cNvPr id="11" name="text-171"/>
          <p:cNvSpPr txBox="1"/>
          <p:nvPr/>
        </p:nvSpPr>
        <p:spPr>
          <a:xfrm>
            <a:off x="2743200" y="440740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Tests use a separate gearloan_test database and refuse to run on any other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What I learned</a:t>
            </a:r>
            <a:endParaRPr lang="en-US" sz="3000" dirty="0"/>
          </a:p>
        </p:txBody>
      </p:sp>
      <p:sp>
        <p:nvSpPr>
          <p:cNvPr id="3" name="badge-172"/>
          <p:cNvSpPr/>
          <p:nvPr/>
        </p:nvSpPr>
        <p:spPr>
          <a:xfrm>
            <a:off x="457200" y="10972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badge-num-173"/>
          <p:cNvSpPr txBox="1"/>
          <p:nvPr/>
        </p:nvSpPr>
        <p:spPr>
          <a:xfrm>
            <a:off x="457200" y="1097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-174"/>
          <p:cNvSpPr txBox="1"/>
          <p:nvPr/>
        </p:nvSpPr>
        <p:spPr>
          <a:xfrm>
            <a:off x="1005840" y="1051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Wait, don't guess</a:t>
            </a:r>
            <a:endParaRPr lang="en-US" sz="1500" dirty="0"/>
          </a:p>
        </p:txBody>
      </p:sp>
      <p:sp>
        <p:nvSpPr>
          <p:cNvPr id="6" name="text-175"/>
          <p:cNvSpPr txBox="1"/>
          <p:nvPr/>
        </p:nvSpPr>
        <p:spPr>
          <a:xfrm>
            <a:off x="3383280" y="105156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Services, probes and HPA metrics need a moment; use readiness and rollout status</a:t>
            </a:r>
            <a:endParaRPr lang="en-US" sz="1300" dirty="0"/>
          </a:p>
        </p:txBody>
      </p:sp>
      <p:sp>
        <p:nvSpPr>
          <p:cNvPr id="7" name="badge-176"/>
          <p:cNvSpPr/>
          <p:nvPr/>
        </p:nvSpPr>
        <p:spPr>
          <a:xfrm>
            <a:off x="457200" y="1810512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badge-num-177"/>
          <p:cNvSpPr txBox="1"/>
          <p:nvPr/>
        </p:nvSpPr>
        <p:spPr>
          <a:xfrm>
            <a:off x="45720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-178"/>
          <p:cNvSpPr txBox="1"/>
          <p:nvPr/>
        </p:nvSpPr>
        <p:spPr>
          <a:xfrm>
            <a:off x="1005840" y="176479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Size for real use</a:t>
            </a:r>
            <a:endParaRPr lang="en-US" sz="1500" dirty="0"/>
          </a:p>
        </p:txBody>
      </p:sp>
      <p:sp>
        <p:nvSpPr>
          <p:cNvPr id="10" name="text-179"/>
          <p:cNvSpPr txBox="1"/>
          <p:nvPr/>
        </p:nvSpPr>
        <p:spPr>
          <a:xfrm>
            <a:off x="3383280" y="1764792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Grafana 13 was OOMKilled until it had ~1 GiB</a:t>
            </a:r>
            <a:endParaRPr lang="en-US" sz="1300" dirty="0"/>
          </a:p>
        </p:txBody>
      </p:sp>
      <p:sp>
        <p:nvSpPr>
          <p:cNvPr id="11" name="badge-180"/>
          <p:cNvSpPr/>
          <p:nvPr/>
        </p:nvSpPr>
        <p:spPr>
          <a:xfrm>
            <a:off x="457200" y="2523744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badge-num-181"/>
          <p:cNvSpPr txBox="1"/>
          <p:nvPr/>
        </p:nvSpPr>
        <p:spPr>
          <a:xfrm>
            <a:off x="457200" y="2523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-182"/>
          <p:cNvSpPr txBox="1"/>
          <p:nvPr/>
        </p:nvSpPr>
        <p:spPr>
          <a:xfrm>
            <a:off x="1005840" y="247802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Build for the target</a:t>
            </a:r>
            <a:endParaRPr lang="en-US" sz="1500" dirty="0"/>
          </a:p>
        </p:txBody>
      </p:sp>
      <p:sp>
        <p:nvSpPr>
          <p:cNvPr id="14" name="text-183"/>
          <p:cNvSpPr txBox="1"/>
          <p:nvPr/>
        </p:nvSpPr>
        <p:spPr>
          <a:xfrm>
            <a:off x="3383280" y="2478024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Mac images are arm64; EKS nodes are x86, so CI builds amd64</a:t>
            </a:r>
            <a:endParaRPr lang="en-US" sz="1300" dirty="0"/>
          </a:p>
        </p:txBody>
      </p:sp>
      <p:sp>
        <p:nvSpPr>
          <p:cNvPr id="15" name="badge-184"/>
          <p:cNvSpPr/>
          <p:nvPr/>
        </p:nvSpPr>
        <p:spPr>
          <a:xfrm>
            <a:off x="457200" y="3236976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badge-num-185"/>
          <p:cNvSpPr txBox="1"/>
          <p:nvPr/>
        </p:nvSpPr>
        <p:spPr>
          <a:xfrm>
            <a:off x="457200" y="3236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-186"/>
          <p:cNvSpPr txBox="1"/>
          <p:nvPr/>
        </p:nvSpPr>
        <p:spPr>
          <a:xfrm>
            <a:off x="1005840" y="3191256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One owner per field</a:t>
            </a:r>
            <a:endParaRPr lang="en-US" sz="1500" dirty="0"/>
          </a:p>
        </p:txBody>
      </p:sp>
      <p:sp>
        <p:nvSpPr>
          <p:cNvPr id="18" name="text-187"/>
          <p:cNvSpPr txBox="1"/>
          <p:nvPr/>
        </p:nvSpPr>
        <p:spPr>
          <a:xfrm>
            <a:off x="3383280" y="3191256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GitOps and the HPA must not both set replicas</a:t>
            </a:r>
            <a:endParaRPr lang="en-US" sz="1300" dirty="0"/>
          </a:p>
        </p:txBody>
      </p:sp>
      <p:sp>
        <p:nvSpPr>
          <p:cNvPr id="19" name="badge-188"/>
          <p:cNvSpPr/>
          <p:nvPr/>
        </p:nvSpPr>
        <p:spPr>
          <a:xfrm>
            <a:off x="457200" y="395020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badge-num-189"/>
          <p:cNvSpPr txBox="1"/>
          <p:nvPr/>
        </p:nvSpPr>
        <p:spPr>
          <a:xfrm>
            <a:off x="45720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-190"/>
          <p:cNvSpPr txBox="1"/>
          <p:nvPr/>
        </p:nvSpPr>
        <p:spPr>
          <a:xfrm>
            <a:off x="1005840" y="390448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Clean up the cloud</a:t>
            </a:r>
            <a:endParaRPr lang="en-US" sz="1500" dirty="0"/>
          </a:p>
        </p:txBody>
      </p:sp>
      <p:sp>
        <p:nvSpPr>
          <p:cNvPr id="22" name="text-191"/>
          <p:cNvSpPr txBox="1"/>
          <p:nvPr/>
        </p:nvSpPr>
        <p:spPr>
          <a:xfrm>
            <a:off x="3383280" y="3904488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every lab ends with terraform destroy and a leftover check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arLoan">
  <a:themeElements>
    <a:clrScheme name="GearLoan">
      <a:dk1>
        <a:srgbClr val="1B2A27"/>
      </a:dk1>
      <a:lt1>
        <a:srgbClr val="FFFFFF"/>
      </a:lt1>
      <a:dk2>
        <a:srgbClr val="1F4E45"/>
      </a:dk2>
      <a:lt2>
        <a:srgbClr val="EEF4F1"/>
      </a:lt2>
      <a:accent1>
        <a:srgbClr val="2F7A64"/>
      </a:accent1>
      <a:accent2>
        <a:srgbClr val="F2A541"/>
      </a:accent2>
      <a:accent3>
        <a:srgbClr val="7FB8A4"/>
      </a:accent3>
      <a:accent4>
        <a:srgbClr val="C9DED6"/>
      </a:accent4>
      <a:accent5>
        <a:srgbClr val="5B6B66"/>
      </a:accent5>
      <a:accent6>
        <a:srgbClr val="D9534F"/>
      </a:accent6>
      <a:hlink>
        <a:srgbClr val="2F7A64"/>
      </a:hlink>
      <a:folHlink>
        <a:srgbClr val="1F4E45"/>
      </a:folHlink>
    </a:clrScheme>
    <a:fontScheme name="GearLoa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GearLoan - Final DevOps Capstone</dc:title>
  <dc:subject>PptxGenJS Presentation</dc:subject>
  <dc:creator>Srinidhi Narendran</dc:creator>
  <cp:lastModifiedBy>Srinidhi Narendran</cp:lastModifiedBy>
  <cp:revision>1</cp:revision>
  <dcterms:created xsi:type="dcterms:W3CDTF">2026-10-16T23:01:22Z</dcterms:created>
  <dcterms:modified xsi:type="dcterms:W3CDTF">2026-10-16T23:01:22Z</dcterms:modified>
</cp:coreProperties>
</file>